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56" r:id="rId7"/>
    <p:sldId id="270" r:id="rId8"/>
    <p:sldId id="258" r:id="rId9"/>
    <p:sldId id="271" r:id="rId10"/>
    <p:sldId id="259" r:id="rId11"/>
    <p:sldId id="269" r:id="rId12"/>
    <p:sldId id="260" r:id="rId13"/>
    <p:sldId id="268" r:id="rId14"/>
    <p:sldId id="261" r:id="rId15"/>
    <p:sldId id="272" r:id="rId16"/>
    <p:sldId id="262" r:id="rId17"/>
    <p:sldId id="274" r:id="rId18"/>
    <p:sldId id="275" r:id="rId19"/>
    <p:sldId id="276" r:id="rId20"/>
    <p:sldId id="279" r:id="rId21"/>
    <p:sldId id="280" r:id="rId22"/>
    <p:sldId id="281" r:id="rId23"/>
    <p:sldId id="284" r:id="rId24"/>
    <p:sldId id="273" r:id="rId2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601ADE-75DB-4C0E-9C1F-3FCDF58A62C1}" v="61" dt="2025-03-26T18:26:36.0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69B72B-895A-D786-A791-0095E624C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8FE78C2-7D38-B041-0D3E-E1DB55EC11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7AF3BA-12F9-AF00-2161-7F0F944E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904A-801C-4068-A6CE-C11A491479FC}" type="datetimeFigureOut">
              <a:rPr lang="pt-BR" smtClean="0"/>
              <a:t>25/03/2025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B5ABAF-4FDA-8A55-7560-70C13CEFB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5FC31D-8265-9A3B-0578-2993F0C98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C9E9-3AC9-41A1-B5CA-2705471D88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32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C1A705-F13B-611C-C26E-8543F6882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F2534F-01E7-87AA-D6EF-0E2A62987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23467D-3576-3FD9-95E6-F5E058D0E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904A-801C-4068-A6CE-C11A491479FC}" type="datetimeFigureOut">
              <a:rPr lang="pt-BR" smtClean="0"/>
              <a:t>25/03/2025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474122-E7AA-FB03-C005-66D92A846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AFB1B8-4567-0AB1-CA93-E45BF0B46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C9E9-3AC9-41A1-B5CA-2705471D88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4979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DC399B-56DB-2839-1272-AA5EF2BD1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29DA92-B256-E108-5028-45105FFD4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AD4D34-7D03-6D2D-3BA7-71BB10546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904A-801C-4068-A6CE-C11A491479FC}" type="datetimeFigureOut">
              <a:rPr lang="pt-BR" smtClean="0"/>
              <a:t>25/03/2025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DDA01B-E0DB-A34B-8E33-0D1E7DDA1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FD7306-BFC2-2B95-4F83-93EFECA0A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C9E9-3AC9-41A1-B5CA-2705471D88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7876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9797EA-92F7-033B-3332-958420463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82AEF2-C28F-25D8-91CA-84A32E6F1A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7424159-9153-5D99-C06B-1123B5097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C46BCD8-F4CE-CFD6-78C9-5E5F4162F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904A-801C-4068-A6CE-C11A491479FC}" type="datetimeFigureOut">
              <a:rPr lang="pt-BR" smtClean="0"/>
              <a:t>25/03/2025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DEE164D-2CFB-B45E-8891-AE204E22C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50FFF8E-4EA8-F7DD-50A0-A726BAE33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C9E9-3AC9-41A1-B5CA-2705471D88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171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DDC5B-6A6A-DF65-2768-D0B026BA7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9B1D731-27CF-FE74-362E-F261CD5E2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0D704C8-708D-0C3F-B1C7-B422F318F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9DC9B48-BB9D-2B6D-D6CC-9FB619B9C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FB818D4-2F5A-60E0-64C0-E8996F5F19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C39DA14-8C84-AFD0-E9D5-F60181015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904A-801C-4068-A6CE-C11A491479FC}" type="datetimeFigureOut">
              <a:rPr lang="pt-BR" smtClean="0"/>
              <a:t>25/03/2025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717A553-E768-2BEF-CAAD-DACD468CC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8D737B5-0BE1-1217-6ACA-11D34EAF8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C9E9-3AC9-41A1-B5CA-2705471D88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2778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30506-31CF-983A-BFD5-49105CF4B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02DF694-8799-043B-8A48-DB1448746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904A-801C-4068-A6CE-C11A491479FC}" type="datetimeFigureOut">
              <a:rPr lang="pt-BR" smtClean="0"/>
              <a:t>25/03/2025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AA3DA1B-5D8E-30D6-49A0-8F0EA848D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C4EA577-F361-7F63-1FC3-B6569A018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C9E9-3AC9-41A1-B5CA-2705471D88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8516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53FA2F2-31A0-E60E-32BB-2FCFFC053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904A-801C-4068-A6CE-C11A491479FC}" type="datetimeFigureOut">
              <a:rPr lang="pt-BR" smtClean="0"/>
              <a:t>25/03/2025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B1981BE-B2D2-E77B-5EA1-0964E790E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9BF2341-62DF-0A33-D9F3-A28402DE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C9E9-3AC9-41A1-B5CA-2705471D88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8662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55BC2F-176D-0C8A-C9E5-463251496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002BA5-DE06-9C97-AD78-4FAA1AFEC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9308B78-3E27-3E31-3A4F-5C1502973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551040-2C29-895B-146C-974C48513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904A-801C-4068-A6CE-C11A491479FC}" type="datetimeFigureOut">
              <a:rPr lang="pt-BR" smtClean="0"/>
              <a:t>25/03/2025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53089F1-9759-9870-D924-5811A75F6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ACAC276-B223-66AC-4CDE-B8B5C1CFD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C9E9-3AC9-41A1-B5CA-2705471D88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8642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7C87B1-7901-9422-5082-E88545247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225EA6D-7502-9314-0ABA-BF0E84E254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03579BA-5361-C161-FDF8-0D5EDC451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594CFB-915E-EDCB-85A7-52B5AD68B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904A-801C-4068-A6CE-C11A491479FC}" type="datetimeFigureOut">
              <a:rPr lang="pt-BR" smtClean="0"/>
              <a:t>25/03/2025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D579668-60CE-2A13-E778-DC007F2D4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8F7EF98-8A3C-7355-BD79-190E5AD5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C9E9-3AC9-41A1-B5CA-2705471D88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9739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7611FC-1163-0E27-2FAE-A2BF05FE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AC2609B-0CB7-162E-4AAE-17C8083D8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5DB66C-678C-E315-B142-31402DDA0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904A-801C-4068-A6CE-C11A491479FC}" type="datetimeFigureOut">
              <a:rPr lang="pt-BR" smtClean="0"/>
              <a:t>25/03/2025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19B312-8687-B7FB-E740-DCD948185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288984-B05F-D369-312A-B0BBC70F7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C9E9-3AC9-41A1-B5CA-2705471D88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33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C2E7418-5F6D-62AB-5CEC-B7AE5007F1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FB39C86-FDD2-9B00-AC3D-049F97C21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82FFD0-92F6-4B23-9F1A-82EB49CFD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904A-801C-4068-A6CE-C11A491479FC}" type="datetimeFigureOut">
              <a:rPr lang="pt-BR" smtClean="0"/>
              <a:t>25/03/2025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5DF256-2666-CEA8-1754-AF8079B71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4052B3-4996-D14B-6994-BA64B44B2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C9E9-3AC9-41A1-B5CA-2705471D88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5776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CC119F3-FC33-EA66-23BE-0166B169F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CAE1639-0656-E512-588B-F7E363B4E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445CA4-22AD-BCB6-1BCF-803BCEB2E0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68904A-801C-4068-A6CE-C11A491479FC}" type="datetimeFigureOut">
              <a:rPr lang="pt-BR" smtClean="0"/>
              <a:t>25/03/2025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E4E0A6-37A0-2B53-2BFF-7B4FABD38A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63B624-CD44-14BB-4616-64DFFFC98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CCC9E9-3AC9-41A1-B5CA-2705471D88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5641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3BAEA-210E-38EB-DB29-D1A151B35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46E097-99C2-3403-CBC1-3B38ED0F0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D9C0BBB-BC1B-09FC-692F-1ACD82847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663"/>
            <a:ext cx="12192000" cy="676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718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BBF153-690E-7671-CAF3-3EAAB9594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C88C43-85CA-E5E8-AD09-E323DAF02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870DEF7-393C-3059-23C8-DA6580FA3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604"/>
            <a:ext cx="12192000" cy="677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482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3853B9F-0EBD-C06B-989C-C18779BA0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3"/>
            <a:ext cx="12192000" cy="6853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433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EE4187C2-73B3-C89A-0F88-CF63344144C4}"/>
              </a:ext>
            </a:extLst>
          </p:cNvPr>
          <p:cNvSpPr txBox="1"/>
          <p:nvPr/>
        </p:nvSpPr>
        <p:spPr>
          <a:xfrm>
            <a:off x="553530" y="205057"/>
            <a:ext cx="111237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/>
              <a:t>INTERAÇÃO ENTRE CRISTAIS DE CLÍNQUER PRINCIPAL MATÉRIA-PRIMA DO CIMENTO E ADITIVOS AVANÇADOS NO CONCRETO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2C3C5AD-5535-796F-AB22-E500463ECE04}"/>
              </a:ext>
            </a:extLst>
          </p:cNvPr>
          <p:cNvSpPr txBox="1"/>
          <p:nvPr/>
        </p:nvSpPr>
        <p:spPr>
          <a:xfrm>
            <a:off x="204185" y="1177082"/>
            <a:ext cx="11549849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rgbClr val="CC0000"/>
                </a:solidFill>
              </a:rPr>
              <a:t>O desempenho do concreto depende fortemente da hidratação dos principais cristais do clínquer</a:t>
            </a:r>
          </a:p>
          <a:p>
            <a:r>
              <a:rPr lang="pt-BR" sz="2000" b="1" dirty="0">
                <a:solidFill>
                  <a:srgbClr val="CC0000"/>
                </a:solidFill>
              </a:rPr>
              <a:t>Matéria-prima principal do cimento Portland: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CC0000"/>
                </a:solidFill>
              </a:rPr>
              <a:t>Alita (C₃S) </a:t>
            </a:r>
            <a:r>
              <a:rPr lang="pt-BR" dirty="0"/>
              <a:t>– responsável pela resistência inicial.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CC0000"/>
                </a:solidFill>
              </a:rPr>
              <a:t>Belita (C₂S) </a:t>
            </a:r>
            <a:r>
              <a:rPr lang="pt-BR" dirty="0"/>
              <a:t>– contribui para a resistência a longo prazo.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 err="1">
                <a:solidFill>
                  <a:srgbClr val="CC0000"/>
                </a:solidFill>
              </a:rPr>
              <a:t>Tetracálcio</a:t>
            </a:r>
            <a:r>
              <a:rPr lang="pt-BR" sz="2000" b="1" dirty="0">
                <a:solidFill>
                  <a:srgbClr val="CC0000"/>
                </a:solidFill>
              </a:rPr>
              <a:t> </a:t>
            </a:r>
            <a:r>
              <a:rPr lang="pt-BR" sz="2000" b="1" dirty="0" err="1">
                <a:solidFill>
                  <a:srgbClr val="CC0000"/>
                </a:solidFill>
              </a:rPr>
              <a:t>Aluminoferrita</a:t>
            </a:r>
            <a:r>
              <a:rPr lang="pt-BR" sz="2000" b="1" dirty="0">
                <a:solidFill>
                  <a:srgbClr val="CC0000"/>
                </a:solidFill>
              </a:rPr>
              <a:t> (C₄AF) </a:t>
            </a:r>
            <a:r>
              <a:rPr lang="pt-BR" dirty="0"/>
              <a:t>– regula a hidratação e reduz variações volumétricas.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 err="1">
                <a:solidFill>
                  <a:srgbClr val="CC0000"/>
                </a:solidFill>
              </a:rPr>
              <a:t>Tricálcio</a:t>
            </a:r>
            <a:r>
              <a:rPr lang="pt-BR" sz="2000" b="1" dirty="0">
                <a:solidFill>
                  <a:srgbClr val="CC0000"/>
                </a:solidFill>
              </a:rPr>
              <a:t> Aluminato (C₃A) </a:t>
            </a:r>
            <a:r>
              <a:rPr lang="pt-BR" dirty="0"/>
              <a:t>– acelera a pega inicial, mas pode influenciar a retração.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b="1" dirty="0"/>
              <a:t>Para otimizar e minimizar falhas estruturais, utiliza-se aditivos especializados da tech4con que controlam retração, aumentam durabilidade e reduzem a permeabilidade.</a:t>
            </a:r>
          </a:p>
        </p:txBody>
      </p:sp>
    </p:spTree>
    <p:extLst>
      <p:ext uri="{BB962C8B-B14F-4D97-AF65-F5344CB8AC3E}">
        <p14:creationId xmlns:p14="http://schemas.microsoft.com/office/powerpoint/2010/main" val="2897728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 descr="CONTROL4MAX IR_balde_18L">
            <a:extLst>
              <a:ext uri="{FF2B5EF4-FFF2-40B4-BE49-F238E27FC236}">
                <a16:creationId xmlns:a16="http://schemas.microsoft.com/office/drawing/2014/main" id="{A8029669-0212-8DA7-536D-314276A96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375" y="268836"/>
            <a:ext cx="6173845" cy="5856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 descr="Logotipo, nome da empresa&#10;&#10;Descrição gerada automaticamente">
            <a:extLst>
              <a:ext uri="{FF2B5EF4-FFF2-40B4-BE49-F238E27FC236}">
                <a16:creationId xmlns:a16="http://schemas.microsoft.com/office/drawing/2014/main" id="{8E1515E7-FD6E-DB62-B960-E2CBBCA73C3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34" t="39923" r="11481" b="35930"/>
          <a:stretch/>
        </p:blipFill>
        <p:spPr bwMode="auto">
          <a:xfrm>
            <a:off x="3580473" y="136482"/>
            <a:ext cx="3060023" cy="6732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7B49333-0A6E-FEF1-9833-19C84D8DA2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7450" y="1"/>
            <a:ext cx="2114550" cy="372862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3DB227C4-9F30-741A-D0F2-0489276C5D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8100" y="6487886"/>
            <a:ext cx="2953900" cy="373295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CEB2D1B8-AED4-5954-D87D-0341950B974C}"/>
              </a:ext>
            </a:extLst>
          </p:cNvPr>
          <p:cNvSpPr txBox="1"/>
          <p:nvPr/>
        </p:nvSpPr>
        <p:spPr>
          <a:xfrm>
            <a:off x="266329" y="809687"/>
            <a:ext cx="7679185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CC0000"/>
                </a:solidFill>
              </a:rPr>
              <a:t>CONTROL4MAX IR – Redutor de Retração Induzida</a:t>
            </a:r>
          </a:p>
          <a:p>
            <a:endParaRPr lang="pt-BR" sz="2400" b="1" dirty="0">
              <a:solidFill>
                <a:srgbClr val="FF0000"/>
              </a:solidFill>
            </a:endParaRPr>
          </a:p>
          <a:p>
            <a:pPr algn="ctr"/>
            <a:r>
              <a:rPr lang="pt-BR" sz="2400" b="1" dirty="0">
                <a:solidFill>
                  <a:srgbClr val="FF0000"/>
                </a:solidFill>
              </a:rPr>
              <a:t>Atuação</a:t>
            </a:r>
          </a:p>
          <a:p>
            <a:endParaRPr lang="pt-BR" sz="2000" b="1" dirty="0"/>
          </a:p>
          <a:p>
            <a:r>
              <a:rPr lang="pt-BR" sz="2000" dirty="0"/>
              <a:t>O </a:t>
            </a:r>
            <a:r>
              <a:rPr lang="pt-BR" sz="2000" b="1" dirty="0"/>
              <a:t>Control4max IR</a:t>
            </a:r>
            <a:r>
              <a:rPr lang="pt-BR" sz="2000" dirty="0"/>
              <a:t> age diretamente na </a:t>
            </a:r>
            <a:r>
              <a:rPr lang="pt-BR" sz="2000" b="1" dirty="0"/>
              <a:t>microestrutura do concreto</a:t>
            </a:r>
            <a:r>
              <a:rPr lang="pt-BR" sz="2000" dirty="0"/>
              <a:t>, promovendo </a:t>
            </a:r>
            <a:r>
              <a:rPr lang="pt-BR" sz="2000" b="1" dirty="0"/>
              <a:t>uma hidratação mais uniforme</a:t>
            </a:r>
            <a:r>
              <a:rPr lang="pt-BR" sz="2000" dirty="0"/>
              <a:t> e </a:t>
            </a:r>
            <a:r>
              <a:rPr lang="pt-BR" sz="2000" b="1" dirty="0"/>
              <a:t>regulando a cinética de liberação de umidade</a:t>
            </a:r>
            <a:r>
              <a:rPr lang="pt-BR" sz="2000" dirty="0"/>
              <a:t>. Esse mecanismo atua nos </a:t>
            </a:r>
            <a:r>
              <a:rPr lang="pt-BR" sz="2000" b="1" dirty="0"/>
              <a:t>silicatos </a:t>
            </a:r>
            <a:r>
              <a:rPr lang="pt-BR" sz="2000" b="1" dirty="0" err="1"/>
              <a:t>tricálcico</a:t>
            </a:r>
            <a:r>
              <a:rPr lang="pt-BR" sz="2000" b="1" dirty="0"/>
              <a:t> (C₃S) e </a:t>
            </a:r>
            <a:r>
              <a:rPr lang="pt-BR" sz="2000" b="1" dirty="0" err="1"/>
              <a:t>dicálcico</a:t>
            </a:r>
            <a:r>
              <a:rPr lang="pt-BR" sz="2000" b="1" dirty="0"/>
              <a:t> (C₂S)</a:t>
            </a:r>
            <a:r>
              <a:rPr lang="pt-BR" sz="2000" dirty="0"/>
              <a:t>, retardando sua reação inicial e proporcionando </a:t>
            </a:r>
            <a:r>
              <a:rPr lang="pt-BR" sz="2000" b="1" dirty="0"/>
              <a:t>uma distribuição mais homogênea dos produtos de hidratação</a:t>
            </a:r>
            <a:r>
              <a:rPr lang="pt-BR" sz="2000" dirty="0"/>
              <a:t>.</a:t>
            </a:r>
          </a:p>
          <a:p>
            <a:r>
              <a:rPr lang="pt-BR" sz="2000" b="1" dirty="0"/>
              <a:t>Control4max IR</a:t>
            </a:r>
            <a:r>
              <a:rPr lang="pt-BR" sz="2000" dirty="0"/>
              <a:t> cria </a:t>
            </a:r>
            <a:r>
              <a:rPr lang="pt-BR" sz="2000" b="1" dirty="0"/>
              <a:t>uma matriz tridimensional</a:t>
            </a:r>
            <a:r>
              <a:rPr lang="pt-BR" sz="2000" dirty="0"/>
              <a:t>, a formulação do </a:t>
            </a:r>
            <a:r>
              <a:rPr lang="pt-BR" sz="2000" b="1" dirty="0"/>
              <a:t>Control4max IR</a:t>
            </a:r>
            <a:r>
              <a:rPr lang="pt-BR" sz="2000" dirty="0"/>
              <a:t> </a:t>
            </a:r>
            <a:r>
              <a:rPr lang="pt-BR" sz="2000" b="1" dirty="0"/>
              <a:t>modifica a estrutura porosa do concreto</a:t>
            </a:r>
            <a:r>
              <a:rPr lang="pt-BR" sz="2000" dirty="0"/>
              <a:t>, reduzindo os </a:t>
            </a:r>
            <a:r>
              <a:rPr lang="pt-BR" sz="2000" b="1" dirty="0"/>
              <a:t>caminhos capilares e minimizando gradientes de retração</a:t>
            </a:r>
            <a:r>
              <a:rPr lang="pt-BR" sz="2000" dirty="0"/>
              <a:t>. Assim, ele </a:t>
            </a:r>
            <a:r>
              <a:rPr lang="pt-BR" sz="2000" b="1" dirty="0"/>
              <a:t>melhora a coesão interna</a:t>
            </a:r>
            <a:r>
              <a:rPr lang="pt-BR" sz="2000" dirty="0"/>
              <a:t> e </a:t>
            </a:r>
            <a:r>
              <a:rPr lang="pt-BR" sz="2000" b="1" dirty="0"/>
              <a:t>controla a </a:t>
            </a:r>
            <a:r>
              <a:rPr lang="pt-BR" sz="2000" b="1" dirty="0" err="1"/>
              <a:t>microfissuração</a:t>
            </a:r>
            <a:r>
              <a:rPr lang="pt-BR" sz="2000" dirty="0"/>
              <a:t>, garantindo </a:t>
            </a:r>
            <a:r>
              <a:rPr lang="pt-BR" sz="2000" b="1" dirty="0"/>
              <a:t>maior estabilidade volumétrica</a:t>
            </a:r>
            <a:r>
              <a:rPr lang="pt-BR" sz="2000" dirty="0"/>
              <a:t>.</a:t>
            </a:r>
          </a:p>
          <a:p>
            <a:endParaRPr lang="pt-BR" sz="2000" b="1" dirty="0"/>
          </a:p>
          <a:p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2485953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657A9AB9-8355-53C5-359E-4F56869B59C8}"/>
              </a:ext>
            </a:extLst>
          </p:cNvPr>
          <p:cNvSpPr txBox="1"/>
          <p:nvPr/>
        </p:nvSpPr>
        <p:spPr>
          <a:xfrm>
            <a:off x="95549" y="1007917"/>
            <a:ext cx="625082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b="1" dirty="0">
                <a:solidFill>
                  <a:srgbClr val="FF0000"/>
                </a:solidFill>
              </a:rPr>
              <a:t>Função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Aditivo de controle de fissuração interna que age na redução das tensões internas do concreto durante a cura. Atua na redistribuição dos esforços internos, reduzindo a formação de microfissuras e melhorando a coesão da matriz cimentícia.</a:t>
            </a:r>
          </a:p>
          <a:p>
            <a:pPr algn="ctr"/>
            <a:br>
              <a:rPr lang="pt-BR" sz="2000" dirty="0"/>
            </a:br>
            <a:r>
              <a:rPr lang="pt-BR" sz="2000" b="1" dirty="0">
                <a:solidFill>
                  <a:srgbClr val="FF0000"/>
                </a:solidFill>
              </a:rPr>
              <a:t>Aplicação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Pisos industriais de alto desempenho, lajes </a:t>
            </a:r>
            <a:r>
              <a:rPr lang="pt-BR" sz="2000" dirty="0" err="1"/>
              <a:t>pré</a:t>
            </a:r>
            <a:r>
              <a:rPr lang="pt-BR" sz="2000" dirty="0"/>
              <a:t> e pós-tensionadas, concretos estruturais e peças pré-moldadas com requisitos elevados de durabilidade.</a:t>
            </a:r>
          </a:p>
          <a:p>
            <a:pPr algn="ctr"/>
            <a:br>
              <a:rPr lang="pt-BR" sz="2000" dirty="0"/>
            </a:br>
            <a:r>
              <a:rPr lang="pt-BR" sz="2000" b="1" dirty="0">
                <a:solidFill>
                  <a:srgbClr val="FF0000"/>
                </a:solidFill>
              </a:rPr>
              <a:t>Benefícios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Redução significativa da fissuração interna por retração autógena e plástica.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Melhoria na integridade estrutural e na durabilidade da matriz cimentícia.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Controle sobre variações volumétricas.</a:t>
            </a:r>
          </a:p>
        </p:txBody>
      </p:sp>
      <p:pic>
        <p:nvPicPr>
          <p:cNvPr id="9" name="Imagem 8" descr="Logotipo, nome da empresa&#10;&#10;Descrição gerada automaticamente">
            <a:extLst>
              <a:ext uri="{FF2B5EF4-FFF2-40B4-BE49-F238E27FC236}">
                <a16:creationId xmlns:a16="http://schemas.microsoft.com/office/drawing/2014/main" id="{DA1CEC52-BFD1-815A-D061-CC46FEAD63A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34" t="39923" r="11481" b="35930"/>
          <a:stretch/>
        </p:blipFill>
        <p:spPr bwMode="auto">
          <a:xfrm>
            <a:off x="3580473" y="136482"/>
            <a:ext cx="3060023" cy="6732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B213BFE-4FEA-BFCB-FF56-C5A5445B7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7450" y="1"/>
            <a:ext cx="2114550" cy="372862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BEC53300-3239-48DC-2DF4-53A8607791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259" y="6529484"/>
            <a:ext cx="2624741" cy="331698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7202F67D-59C4-CC86-51DB-8D3DEC0E54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8262" y="1793057"/>
            <a:ext cx="5882106" cy="4736426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FDC7FE1B-D7E2-C475-D8A2-2F0E9551C34E}"/>
              </a:ext>
            </a:extLst>
          </p:cNvPr>
          <p:cNvSpPr txBox="1"/>
          <p:nvPr/>
        </p:nvSpPr>
        <p:spPr>
          <a:xfrm>
            <a:off x="8211844" y="1468857"/>
            <a:ext cx="31904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Gráfico de variação dimensional</a:t>
            </a:r>
          </a:p>
        </p:txBody>
      </p:sp>
    </p:spTree>
    <p:extLst>
      <p:ext uri="{BB962C8B-B14F-4D97-AF65-F5344CB8AC3E}">
        <p14:creationId xmlns:p14="http://schemas.microsoft.com/office/powerpoint/2010/main" val="1006911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BA4F23E-4DD8-0009-4D49-3816A3E2D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7450" y="1"/>
            <a:ext cx="2114550" cy="38174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3E43C3C-34F6-B178-DEF9-80F76897A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851" y="6360835"/>
            <a:ext cx="3495753" cy="441771"/>
          </a:xfrm>
          <a:prstGeom prst="rect">
            <a:avLst/>
          </a:prstGeom>
        </p:spPr>
      </p:pic>
      <p:pic>
        <p:nvPicPr>
          <p:cNvPr id="4" name="Imagem 3" descr="Uma imagem contendo Texto&#10;&#10;Descrição gerada automaticamente">
            <a:extLst>
              <a:ext uri="{FF2B5EF4-FFF2-40B4-BE49-F238E27FC236}">
                <a16:creationId xmlns:a16="http://schemas.microsoft.com/office/drawing/2014/main" id="{21FC4156-EB5B-8B01-9E48-3AF1EFA5C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4336" y="26771"/>
            <a:ext cx="3543034" cy="727969"/>
          </a:xfrm>
          <a:prstGeom prst="rect">
            <a:avLst/>
          </a:prstGeom>
        </p:spPr>
      </p:pic>
      <p:pic>
        <p:nvPicPr>
          <p:cNvPr id="6" name="Picture 4" descr="CONTROL4MAX CR_10Kg">
            <a:extLst>
              <a:ext uri="{FF2B5EF4-FFF2-40B4-BE49-F238E27FC236}">
                <a16:creationId xmlns:a16="http://schemas.microsoft.com/office/drawing/2014/main" id="{CBB46BCC-0FF4-10B0-E1FB-8E7FF3B0A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0809">
            <a:off x="7530657" y="610832"/>
            <a:ext cx="4445582" cy="4610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E6DEDB8-4045-36B1-6A72-F2896E61EE8A}"/>
              </a:ext>
            </a:extLst>
          </p:cNvPr>
          <p:cNvSpPr txBox="1"/>
          <p:nvPr/>
        </p:nvSpPr>
        <p:spPr>
          <a:xfrm>
            <a:off x="499042" y="870164"/>
            <a:ext cx="8560822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CC0000"/>
                </a:solidFill>
              </a:rPr>
              <a:t>CONTROL4MAX CR – Compensador de Retração</a:t>
            </a:r>
          </a:p>
          <a:p>
            <a:endParaRPr lang="pt-BR" sz="2400" b="1" dirty="0">
              <a:solidFill>
                <a:srgbClr val="CC0000"/>
              </a:solidFill>
            </a:endParaRPr>
          </a:p>
          <a:p>
            <a:pPr algn="ctr"/>
            <a:r>
              <a:rPr lang="pt-BR" sz="2000" b="1" dirty="0">
                <a:solidFill>
                  <a:srgbClr val="FF0000"/>
                </a:solidFill>
              </a:rPr>
              <a:t>Atuação</a:t>
            </a:r>
            <a:br>
              <a:rPr lang="pt-BR" sz="2000" dirty="0"/>
            </a:br>
            <a:r>
              <a:rPr lang="pt-BR" sz="2000" dirty="0"/>
              <a:t>O </a:t>
            </a:r>
            <a:r>
              <a:rPr lang="pt-BR" sz="2000" b="1" dirty="0"/>
              <a:t>Control4max CR</a:t>
            </a:r>
            <a:r>
              <a:rPr lang="pt-BR" sz="2000" dirty="0"/>
              <a:t> é um </a:t>
            </a:r>
            <a:r>
              <a:rPr lang="pt-BR" sz="2000" b="1" dirty="0"/>
              <a:t>compensador de retração à base de óxido de cálcio supercalcinado (</a:t>
            </a:r>
            <a:r>
              <a:rPr lang="pt-BR" sz="2000" b="1" dirty="0" err="1"/>
              <a:t>CaO</a:t>
            </a:r>
            <a:r>
              <a:rPr lang="pt-BR" sz="2000" b="1" dirty="0"/>
              <a:t>)</a:t>
            </a:r>
            <a:r>
              <a:rPr lang="pt-BR" sz="2000" dirty="0"/>
              <a:t>, que reage com a umidade do concreto, formando </a:t>
            </a:r>
            <a:r>
              <a:rPr lang="pt-BR" sz="2000" b="1" dirty="0"/>
              <a:t>hidróxido de cálcio (Ca(OH)₂)</a:t>
            </a:r>
            <a:r>
              <a:rPr lang="pt-BR" sz="2000" dirty="0"/>
              <a:t> e promovendo </a:t>
            </a:r>
            <a:r>
              <a:rPr lang="pt-BR" sz="2000" b="1" dirty="0"/>
              <a:t>uma expansão controlada</a:t>
            </a:r>
            <a:r>
              <a:rPr lang="pt-BR" sz="2000" dirty="0"/>
              <a:t>. Essa reação ajuda a reduzir </a:t>
            </a:r>
            <a:r>
              <a:rPr lang="pt-BR" sz="2000" b="1" dirty="0"/>
              <a:t>tensões internas e fissuração</a:t>
            </a:r>
            <a:r>
              <a:rPr lang="pt-BR" sz="2000" dirty="0"/>
              <a:t>:</a:t>
            </a:r>
          </a:p>
          <a:p>
            <a:endParaRPr lang="pt-BR" sz="2000" dirty="0"/>
          </a:p>
          <a:p>
            <a:pPr algn="ctr"/>
            <a:r>
              <a:rPr lang="pt-BR" sz="2000" dirty="0"/>
              <a:t>CaO+H2O→Ca(OH)2+ΔH</a:t>
            </a:r>
          </a:p>
          <a:p>
            <a:pPr algn="ctr"/>
            <a:endParaRPr lang="pt-BR" sz="2000" dirty="0"/>
          </a:p>
          <a:p>
            <a:pPr algn="ctr"/>
            <a:r>
              <a:rPr lang="pt-BR" sz="2000" b="1" dirty="0">
                <a:solidFill>
                  <a:srgbClr val="FF0000"/>
                </a:solidFill>
              </a:rPr>
              <a:t>Benefícios</a:t>
            </a:r>
            <a:endParaRPr lang="pt-BR" sz="20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Redução significativa da retração autógena e plástica.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Maior integridade estrutural e controle de fissuras.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Aplicável em </a:t>
            </a:r>
            <a:r>
              <a:rPr lang="pt-BR" sz="2000" b="1" dirty="0"/>
              <a:t>pisos industriais, pré-moldados, paredes e lajes</a:t>
            </a:r>
            <a:r>
              <a:rPr lang="pt-BR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Controle preciso da retração na fase inicial e final da cura.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Redução do potencial de fissuração em elementos estruturais de grande dimensão.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Compatibilidade com reforços metálicos e fibras sintéticas, sem comprometer a passivação da armadura.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402841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657A9AB9-8355-53C5-359E-4F56869B59C8}"/>
              </a:ext>
            </a:extLst>
          </p:cNvPr>
          <p:cNvSpPr txBox="1"/>
          <p:nvPr/>
        </p:nvSpPr>
        <p:spPr>
          <a:xfrm>
            <a:off x="121684" y="1056581"/>
            <a:ext cx="7439489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FF0000"/>
                </a:solidFill>
              </a:rPr>
              <a:t>Função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Aditivo compensador de retração à base de óxido de cálcio supercalcinado, que reage controladamente com a umidade do concreto, promovendo expansão controlada para neutralizar os efeitos da retração.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A reação combinada de Control4maxCR resulta em </a:t>
            </a:r>
            <a:r>
              <a:rPr lang="pt-BR" sz="2000" b="1" dirty="0"/>
              <a:t>expansão controlada, maior estabilidade volumétrica e redução da retração do concreto</a:t>
            </a:r>
            <a:r>
              <a:rPr lang="pt-BR" sz="2000" dirty="0"/>
              <a:t>. </a:t>
            </a:r>
          </a:p>
          <a:p>
            <a:pPr algn="ctr"/>
            <a:br>
              <a:rPr lang="pt-BR" sz="2000" b="1" dirty="0"/>
            </a:br>
            <a:r>
              <a:rPr lang="pt-BR" sz="2400" b="1" dirty="0">
                <a:solidFill>
                  <a:srgbClr val="FF0000"/>
                </a:solidFill>
              </a:rPr>
              <a:t>Aplicação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Pisos industriais sujeitos a altas tensões, lajes suspensas e subpressão, paredes monolíticas, estruturas de grande porte, tubos de concreto e concretos projetados para baixa retração volumétrica.</a:t>
            </a:r>
          </a:p>
          <a:p>
            <a:br>
              <a:rPr lang="pt-BR" sz="2000" b="1" dirty="0"/>
            </a:br>
            <a:endParaRPr lang="pt-BR" sz="20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1601EFA4-DCF9-92F6-4094-80C70326C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7450" y="1"/>
            <a:ext cx="2114550" cy="38174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9866D67-DFB7-4D75-C2E2-9D69D83E9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797" y="6765419"/>
            <a:ext cx="1733550" cy="219075"/>
          </a:xfrm>
          <a:prstGeom prst="rect">
            <a:avLst/>
          </a:prstGeom>
        </p:spPr>
      </p:pic>
      <p:pic>
        <p:nvPicPr>
          <p:cNvPr id="5" name="Imagem 4" descr="Uma imagem contendo Texto&#10;&#10;Descrição gerada automaticamente">
            <a:extLst>
              <a:ext uri="{FF2B5EF4-FFF2-40B4-BE49-F238E27FC236}">
                <a16:creationId xmlns:a16="http://schemas.microsoft.com/office/drawing/2014/main" id="{278148F4-1D50-49CB-6963-F596A1BCF7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4336" y="26771"/>
            <a:ext cx="3543034" cy="72796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C39A3BC-35F9-9D4F-51FC-636F87BE40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1173" y="2325950"/>
            <a:ext cx="4728480" cy="4425086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2716FA78-124E-9935-C5F7-0F1538B140A3}"/>
              </a:ext>
            </a:extLst>
          </p:cNvPr>
          <p:cNvSpPr txBox="1"/>
          <p:nvPr/>
        </p:nvSpPr>
        <p:spPr>
          <a:xfrm>
            <a:off x="8402321" y="2202636"/>
            <a:ext cx="31904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Gráfico de variação dimensional</a:t>
            </a:r>
          </a:p>
        </p:txBody>
      </p:sp>
    </p:spTree>
    <p:extLst>
      <p:ext uri="{BB962C8B-B14F-4D97-AF65-F5344CB8AC3E}">
        <p14:creationId xmlns:p14="http://schemas.microsoft.com/office/powerpoint/2010/main" val="4048651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ICATREX 1000_20Kg">
            <a:extLst>
              <a:ext uri="{FF2B5EF4-FFF2-40B4-BE49-F238E27FC236}">
                <a16:creationId xmlns:a16="http://schemas.microsoft.com/office/drawing/2014/main" id="{D8D4D14B-E306-B7A5-5804-D58A04211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5033" y="318610"/>
            <a:ext cx="5557606" cy="5763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 descr="Logotipo, nome da empresa&#10;&#10;Descrição gerada automaticamente">
            <a:extLst>
              <a:ext uri="{FF2B5EF4-FFF2-40B4-BE49-F238E27FC236}">
                <a16:creationId xmlns:a16="http://schemas.microsoft.com/office/drawing/2014/main" id="{1FB0D59A-67DC-EEED-A0B8-4BAB6702F9C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01" t="38362" r="24374" b="39394"/>
          <a:stretch/>
        </p:blipFill>
        <p:spPr bwMode="auto">
          <a:xfrm>
            <a:off x="3399285" y="63683"/>
            <a:ext cx="2578532" cy="7175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5F39DC2-615C-B45A-D7AB-DA83694B02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7450" y="1"/>
            <a:ext cx="2114550" cy="36398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1024232-A91A-E4FF-8607-5E39734931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4514" y="6505666"/>
            <a:ext cx="3287486" cy="288651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61C1F966-43CD-60A4-DA4F-C0797BC82848}"/>
              </a:ext>
            </a:extLst>
          </p:cNvPr>
          <p:cNvSpPr txBox="1"/>
          <p:nvPr/>
        </p:nvSpPr>
        <p:spPr>
          <a:xfrm>
            <a:off x="89361" y="775947"/>
            <a:ext cx="8532125" cy="643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CC0000"/>
                </a:solidFill>
              </a:rPr>
              <a:t>CYCATREX 1000 – Cristalizante Impermeabilizante de Alta Performance</a:t>
            </a:r>
          </a:p>
          <a:p>
            <a:r>
              <a:rPr lang="pt-BR" sz="2000" b="1" dirty="0">
                <a:solidFill>
                  <a:srgbClr val="FF0000"/>
                </a:solidFill>
              </a:rPr>
              <a:t>Atuação</a:t>
            </a:r>
            <a:r>
              <a:rPr lang="pt-BR" sz="2000" dirty="0">
                <a:solidFill>
                  <a:srgbClr val="FF0000"/>
                </a:solidFill>
              </a:rPr>
              <a:t>:</a:t>
            </a:r>
          </a:p>
          <a:p>
            <a:r>
              <a:rPr lang="pt-BR" sz="2000" dirty="0"/>
              <a:t>O </a:t>
            </a:r>
            <a:r>
              <a:rPr lang="pt-BR" sz="2400" b="1" dirty="0"/>
              <a:t>Cycatrex</a:t>
            </a:r>
            <a:r>
              <a:rPr lang="pt-BR" sz="2000" b="1" dirty="0"/>
              <a:t> 1000</a:t>
            </a:r>
            <a:r>
              <a:rPr lang="pt-BR" sz="2000" dirty="0"/>
              <a:t> é um </a:t>
            </a:r>
            <a:r>
              <a:rPr lang="pt-BR" sz="2000" b="1" dirty="0"/>
              <a:t>cristalizante penetrante</a:t>
            </a:r>
            <a:r>
              <a:rPr lang="pt-BR" sz="2000" dirty="0"/>
              <a:t> que, ao reagir com os produtos da hidratação do cimento (principalmente Ca(OH)₂), forma cristais que </a:t>
            </a:r>
            <a:r>
              <a:rPr lang="pt-BR" sz="2000" b="1" dirty="0"/>
              <a:t>preenchem poros e microfissuras</a:t>
            </a:r>
            <a:r>
              <a:rPr lang="pt-BR" sz="2000" dirty="0"/>
              <a:t>. A principal reação ocorre com </a:t>
            </a:r>
            <a:r>
              <a:rPr lang="pt-BR" sz="2000" b="1" dirty="0"/>
              <a:t>Ca(OH)₂ e C₄AF</a:t>
            </a:r>
            <a:r>
              <a:rPr lang="pt-BR" sz="2000" dirty="0"/>
              <a:t>, promovendo </a:t>
            </a:r>
            <a:r>
              <a:rPr lang="pt-BR" sz="2000" b="1" dirty="0"/>
              <a:t>autorregeneração cristalina</a:t>
            </a:r>
            <a:r>
              <a:rPr lang="pt-BR" sz="2000" dirty="0"/>
              <a:t>:</a:t>
            </a:r>
          </a:p>
          <a:p>
            <a:endParaRPr lang="pt-BR" sz="2000" dirty="0"/>
          </a:p>
          <a:p>
            <a:pPr algn="ctr"/>
            <a:r>
              <a:rPr lang="pt-BR" sz="2000" dirty="0"/>
              <a:t>Ca(OH)2​+SiO2​→C-S-H</a:t>
            </a:r>
          </a:p>
          <a:p>
            <a:r>
              <a:rPr lang="pt-BR" sz="2000" b="1" dirty="0">
                <a:solidFill>
                  <a:srgbClr val="FF0000"/>
                </a:solidFill>
              </a:rPr>
              <a:t>Benefícios</a:t>
            </a:r>
            <a:r>
              <a:rPr lang="pt-BR" sz="2000" dirty="0">
                <a:solidFill>
                  <a:srgbClr val="FF0000"/>
                </a:solidFill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Impermeabilização permanente</a:t>
            </a:r>
            <a:r>
              <a:rPr lang="pt-BR" sz="2000" dirty="0"/>
              <a:t> por cristalização profunda.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Aumento da resistência química</a:t>
            </a:r>
            <a:r>
              <a:rPr lang="pt-BR" sz="2000" dirty="0"/>
              <a:t> contra sulfatos e cloretos.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Aplicável em </a:t>
            </a:r>
            <a:r>
              <a:rPr lang="pt-BR" sz="2000" b="1" dirty="0"/>
              <a:t>fundações, subsolos, reservatórios e túneis</a:t>
            </a:r>
            <a:r>
              <a:rPr lang="pt-BR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Formação de cristais impermeabilizantes que permanecem ativos ao longo da vida útil da estrutura.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Aumento da resistência química contra sulfatos, cloretos e agentes agressivos.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Capacidade de autorregeneração de fissuras de até 0,4 mm em presença de umidade.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046679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657A9AB9-8355-53C5-359E-4F56869B59C8}"/>
              </a:ext>
            </a:extLst>
          </p:cNvPr>
          <p:cNvSpPr txBox="1"/>
          <p:nvPr/>
        </p:nvSpPr>
        <p:spPr>
          <a:xfrm>
            <a:off x="248576" y="1211018"/>
            <a:ext cx="800026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FF0000"/>
                </a:solidFill>
              </a:rPr>
              <a:t>Função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Aditivo cristalizante de penetração profunda que reage com compostos não hidratados do cimento, formando cristais insolúveis que preenchem microfissuras e capilares, promovendo uma impermeabilização integral e permanente do concreto.</a:t>
            </a:r>
          </a:p>
          <a:p>
            <a:pPr algn="ctr"/>
            <a:br>
              <a:rPr lang="pt-BR" sz="2400" b="1" dirty="0"/>
            </a:br>
            <a:r>
              <a:rPr lang="pt-BR" sz="2400" b="1" dirty="0">
                <a:solidFill>
                  <a:srgbClr val="FF0000"/>
                </a:solidFill>
              </a:rPr>
              <a:t>Aplicação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Estruturas sujeitas à exposição contínua ou intermitente à água, como fundações, reservatórios, tanques, túneis, subsolos, galerias pluviais e concretos de barragens.</a:t>
            </a:r>
          </a:p>
          <a:p>
            <a:endParaRPr lang="pt-BR" sz="2400" dirty="0"/>
          </a:p>
        </p:txBody>
      </p:sp>
      <p:pic>
        <p:nvPicPr>
          <p:cNvPr id="3074" name="Picture 2" descr="CICATREX 1000_20Kg">
            <a:extLst>
              <a:ext uri="{FF2B5EF4-FFF2-40B4-BE49-F238E27FC236}">
                <a16:creationId xmlns:a16="http://schemas.microsoft.com/office/drawing/2014/main" id="{DA2007E4-34E9-66BC-9B13-055553570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5033" y="318610"/>
            <a:ext cx="5557606" cy="5763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 descr="Logotipo, nome da empresa&#10;&#10;Descrição gerada automaticamente">
            <a:extLst>
              <a:ext uri="{FF2B5EF4-FFF2-40B4-BE49-F238E27FC236}">
                <a16:creationId xmlns:a16="http://schemas.microsoft.com/office/drawing/2014/main" id="{4C615C49-F153-441C-F8E4-0FA95BD26EF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01" t="38362" r="24374" b="39394"/>
          <a:stretch/>
        </p:blipFill>
        <p:spPr bwMode="auto">
          <a:xfrm>
            <a:off x="3399285" y="63683"/>
            <a:ext cx="2578532" cy="7175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BD41FE1-E067-4A50-8763-38D33BC105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7450" y="1"/>
            <a:ext cx="2114550" cy="36398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CE90540-4B67-39E6-FC5B-2D645470CF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8450" y="6642106"/>
            <a:ext cx="1733550" cy="15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132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ICATREX 500_20Kg">
            <a:extLst>
              <a:ext uri="{FF2B5EF4-FFF2-40B4-BE49-F238E27FC236}">
                <a16:creationId xmlns:a16="http://schemas.microsoft.com/office/drawing/2014/main" id="{567D96AE-9055-E456-1F02-3BF597FB9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3656" y="1318569"/>
            <a:ext cx="4268561" cy="4426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 descr="Logotipo, nome da empresa&#10;&#10;Descrição gerada automaticamente">
            <a:extLst>
              <a:ext uri="{FF2B5EF4-FFF2-40B4-BE49-F238E27FC236}">
                <a16:creationId xmlns:a16="http://schemas.microsoft.com/office/drawing/2014/main" id="{52688827-25E5-8029-F83F-1FE02720E4D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01" t="39007" r="23007" b="39716"/>
          <a:stretch/>
        </p:blipFill>
        <p:spPr bwMode="auto">
          <a:xfrm>
            <a:off x="3578758" y="67608"/>
            <a:ext cx="3187084" cy="6872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133FAB9-49E9-98BA-A942-B6C118EDA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7450" y="0"/>
            <a:ext cx="2114550" cy="29148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14619DA-9113-03AB-658E-0292242C19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9218" y="6542314"/>
            <a:ext cx="3152782" cy="22168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2A2FF2A0-6722-DAAE-0CC8-67581D286B21}"/>
              </a:ext>
            </a:extLst>
          </p:cNvPr>
          <p:cNvSpPr txBox="1"/>
          <p:nvPr/>
        </p:nvSpPr>
        <p:spPr>
          <a:xfrm>
            <a:off x="107569" y="589693"/>
            <a:ext cx="9428317" cy="680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rgbClr val="CC0000"/>
                </a:solidFill>
              </a:rPr>
              <a:t>CYCATREX 500 – Cimento Cristalizante </a:t>
            </a:r>
            <a:endParaRPr lang="pt-BR" sz="2400" b="1" dirty="0"/>
          </a:p>
          <a:p>
            <a:pPr algn="ctr"/>
            <a:r>
              <a:rPr lang="pt-BR" sz="2400" b="1" dirty="0">
                <a:solidFill>
                  <a:srgbClr val="FF0000"/>
                </a:solidFill>
              </a:rPr>
              <a:t>Atuação</a:t>
            </a:r>
            <a:br>
              <a:rPr lang="pt-BR" sz="2800" b="1" dirty="0">
                <a:solidFill>
                  <a:srgbClr val="CC0000"/>
                </a:solidFill>
              </a:rPr>
            </a:br>
            <a:r>
              <a:rPr lang="pt-BR" sz="2400" dirty="0"/>
              <a:t>O </a:t>
            </a:r>
            <a:r>
              <a:rPr lang="pt-BR" sz="2400" b="1" dirty="0"/>
              <a:t>Cycatrex 500</a:t>
            </a:r>
            <a:r>
              <a:rPr lang="pt-BR" sz="2400" dirty="0"/>
              <a:t> é um cristalizante baseado em </a:t>
            </a:r>
            <a:r>
              <a:rPr lang="pt-BR" sz="2400" b="1" dirty="0"/>
              <a:t>cimento e aditivos reativos</a:t>
            </a:r>
            <a:r>
              <a:rPr lang="pt-BR" sz="2400" dirty="0"/>
              <a:t>, formando uma </a:t>
            </a:r>
            <a:r>
              <a:rPr lang="pt-BR" sz="2400" b="1" dirty="0"/>
              <a:t>barreira química e física</a:t>
            </a:r>
            <a:r>
              <a:rPr lang="pt-BR" sz="2400" dirty="0"/>
              <a:t> no concreto. Atua </a:t>
            </a:r>
            <a:r>
              <a:rPr lang="pt-BR" sz="2400" b="1" dirty="0"/>
              <a:t>selando capilares</a:t>
            </a:r>
            <a:r>
              <a:rPr lang="pt-BR" sz="2400" dirty="0"/>
              <a:t> por meio da formação de </a:t>
            </a:r>
            <a:r>
              <a:rPr lang="pt-BR" sz="2400" b="1" dirty="0"/>
              <a:t>cristais secundários</a:t>
            </a:r>
            <a:r>
              <a:rPr lang="pt-BR" sz="2400" dirty="0"/>
              <a:t> que reagem com aluminatos e sulfatos do cimento.</a:t>
            </a:r>
          </a:p>
          <a:p>
            <a:pPr algn="ctr"/>
            <a:r>
              <a:rPr lang="pt-BR" sz="2400" b="1" dirty="0">
                <a:solidFill>
                  <a:srgbClr val="FF0000"/>
                </a:solidFill>
              </a:rPr>
              <a:t>Benefícios</a:t>
            </a:r>
            <a:r>
              <a:rPr lang="pt-BR" sz="2400" dirty="0">
                <a:solidFill>
                  <a:srgbClr val="FF000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Reparo e impermeabilização de estruturas já concretadas.</a:t>
            </a:r>
            <a:br>
              <a:rPr lang="pt-BR" sz="2400" dirty="0"/>
            </a:br>
            <a:r>
              <a:rPr lang="pt-BR" sz="2400" b="1" dirty="0"/>
              <a:t>Ativação autógena</a:t>
            </a:r>
            <a:r>
              <a:rPr lang="pt-BR" sz="2400" dirty="0"/>
              <a:t> ao entrar em contato com água.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Ideal para </a:t>
            </a:r>
            <a:r>
              <a:rPr lang="pt-BR" sz="2400" b="1" dirty="0"/>
              <a:t>bases, paredes enterradas e reservatórios de água</a:t>
            </a:r>
            <a:r>
              <a:rPr lang="pt-BR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Proteção integral contra penetração de água e agentes agressivos.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Formação de cristais que se tornam parte integrante da matriz cimentícia, promovendo impermeabilização permanente.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Ação contínua de autorregeneração em presença de umidade, selando microfissuras de até 0,4 mm.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Aplicação simples, podendo ser projetada ou aplicada com broxa diretamente sobre o substrato.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8630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657A9AB9-8355-53C5-359E-4F56869B59C8}"/>
              </a:ext>
            </a:extLst>
          </p:cNvPr>
          <p:cNvSpPr txBox="1"/>
          <p:nvPr/>
        </p:nvSpPr>
        <p:spPr>
          <a:xfrm>
            <a:off x="301840" y="861621"/>
            <a:ext cx="829174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FF0000"/>
                </a:solidFill>
              </a:rPr>
              <a:t>Função</a:t>
            </a:r>
            <a:endParaRPr lang="pt-BR" sz="2400" dirty="0">
              <a:solidFill>
                <a:srgbClr val="FF0000"/>
              </a:solidFill>
            </a:endParaRP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Argamassa cristalizante à base de cimento Portland e agentes químicos ativos, projetado para impermeabilização e autoproteção de superfícies cimentícias. Quando aplicada na argamassa, reage com a umidade no abstrato, formando cristais insolúveis que bloqueiam a passagem de água através da estrutura capilar.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endParaRPr lang="pt-BR" dirty="0"/>
          </a:p>
          <a:p>
            <a:pPr algn="ctr"/>
            <a:r>
              <a:rPr lang="pt-BR" sz="2400" b="1" dirty="0">
                <a:solidFill>
                  <a:srgbClr val="FF0000"/>
                </a:solidFill>
              </a:rPr>
              <a:t>Aplicação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Impermeabilização de estruturas sujeitas à umidade, como reservatórios, subsolos, galerias, túneis e estações de tratamento de água e esgoto.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Proteção de superfícies de concreto novas ou existentes contra infiltrações.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Aplicação interna ou externa sobre concreto estrutural, podendo ser utilizada em áreas de pressão negativa e positiva.</a:t>
            </a:r>
          </a:p>
          <a:p>
            <a:br>
              <a:rPr lang="pt-BR" dirty="0"/>
            </a:br>
            <a:endParaRPr lang="pt-BR" dirty="0"/>
          </a:p>
        </p:txBody>
      </p:sp>
      <p:pic>
        <p:nvPicPr>
          <p:cNvPr id="4098" name="Picture 2" descr="CICATREX 500_20Kg">
            <a:extLst>
              <a:ext uri="{FF2B5EF4-FFF2-40B4-BE49-F238E27FC236}">
                <a16:creationId xmlns:a16="http://schemas.microsoft.com/office/drawing/2014/main" id="{7D4336A5-BE94-55AB-6F1E-6D48DA6F5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7663" y="291483"/>
            <a:ext cx="5143500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m 1" descr="Logotipo, nome da empresa&#10;&#10;Descrição gerada automaticamente">
            <a:extLst>
              <a:ext uri="{FF2B5EF4-FFF2-40B4-BE49-F238E27FC236}">
                <a16:creationId xmlns:a16="http://schemas.microsoft.com/office/drawing/2014/main" id="{9D2D2843-2D4C-C295-41BE-3134DD8EFD5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01" t="39007" r="23007" b="39716"/>
          <a:stretch/>
        </p:blipFill>
        <p:spPr bwMode="auto">
          <a:xfrm>
            <a:off x="3861787" y="174387"/>
            <a:ext cx="3187084" cy="6872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E4257FC-37F6-6810-8A65-6F24A3C97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7450" y="0"/>
            <a:ext cx="2114550" cy="29148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D3DD34B-15A6-9B90-C3A4-AB53F6C8C9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8450" y="6642106"/>
            <a:ext cx="1733550" cy="121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9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Desenho com traços pretos em fundo branco e letras pretas&#10;&#10;Descrição gerada automaticamente">
            <a:extLst>
              <a:ext uri="{FF2B5EF4-FFF2-40B4-BE49-F238E27FC236}">
                <a16:creationId xmlns:a16="http://schemas.microsoft.com/office/drawing/2014/main" id="{8B54526B-62B5-E844-5B9F-50B3C26265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4490" y="34575"/>
            <a:ext cx="3271831" cy="63125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2D6E3EC-DEE4-32A5-153B-6FD567B51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7450" y="0"/>
            <a:ext cx="2114550" cy="355107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52B0549-C1E3-43C1-8061-D528A5C28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8450" y="6642106"/>
            <a:ext cx="1733550" cy="148499"/>
          </a:xfrm>
          <a:prstGeom prst="rect">
            <a:avLst/>
          </a:prstGeom>
        </p:spPr>
      </p:pic>
      <p:pic>
        <p:nvPicPr>
          <p:cNvPr id="6" name="Picture 2" descr="cura4max">
            <a:extLst>
              <a:ext uri="{FF2B5EF4-FFF2-40B4-BE49-F238E27FC236}">
                <a16:creationId xmlns:a16="http://schemas.microsoft.com/office/drawing/2014/main" id="{2F5B1486-0D95-AD31-2E4C-DA257D174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6700" y="831606"/>
            <a:ext cx="5143500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27C9364A-7987-355A-F362-CB649827F5B1}"/>
              </a:ext>
            </a:extLst>
          </p:cNvPr>
          <p:cNvSpPr txBox="1"/>
          <p:nvPr/>
        </p:nvSpPr>
        <p:spPr>
          <a:xfrm>
            <a:off x="195309" y="1198485"/>
            <a:ext cx="843706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rgbClr val="CC0000"/>
                </a:solidFill>
              </a:rPr>
              <a:t>CURA4MAX – Agente de Cura Química Base Resina</a:t>
            </a:r>
          </a:p>
          <a:p>
            <a:endParaRPr lang="pt-BR" sz="2400" b="1" dirty="0"/>
          </a:p>
          <a:p>
            <a:pPr algn="ctr"/>
            <a:r>
              <a:rPr lang="pt-BR" sz="2800" b="1" dirty="0">
                <a:solidFill>
                  <a:srgbClr val="FF0000"/>
                </a:solidFill>
              </a:rPr>
              <a:t>Atuação</a:t>
            </a:r>
            <a:br>
              <a:rPr lang="pt-BR" sz="2000" dirty="0"/>
            </a:br>
            <a:r>
              <a:rPr lang="pt-BR" sz="2000" dirty="0"/>
              <a:t>O </a:t>
            </a:r>
            <a:r>
              <a:rPr lang="pt-BR" sz="2000" b="1" dirty="0"/>
              <a:t>Cura4max</a:t>
            </a:r>
            <a:r>
              <a:rPr lang="pt-BR" sz="2000" dirty="0"/>
              <a:t> forma uma </a:t>
            </a:r>
            <a:r>
              <a:rPr lang="pt-BR" sz="2000" b="1" dirty="0"/>
              <a:t>película protetora</a:t>
            </a:r>
            <a:r>
              <a:rPr lang="pt-BR" sz="2000" dirty="0"/>
              <a:t> sobre o concreto recém-aplicado, </a:t>
            </a:r>
            <a:r>
              <a:rPr lang="pt-BR" sz="2000" b="1" dirty="0"/>
              <a:t>reduzindo a evaporação prematura da água de hidratação</a:t>
            </a:r>
            <a:r>
              <a:rPr lang="pt-BR" sz="2000" dirty="0"/>
              <a:t>. Esse efeito </a:t>
            </a:r>
            <a:r>
              <a:rPr lang="pt-BR" sz="2000" b="1" dirty="0"/>
              <a:t>garante uma hidratação mais eficiente do concreto e cristais</a:t>
            </a:r>
            <a:r>
              <a:rPr lang="pt-BR" sz="2000" dirty="0"/>
              <a:t>, principalmente </a:t>
            </a:r>
            <a:r>
              <a:rPr lang="pt-BR" sz="2000" b="1" dirty="0"/>
              <a:t>C₃S e C₂S</a:t>
            </a:r>
            <a:r>
              <a:rPr lang="pt-B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480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657A9AB9-8355-53C5-359E-4F56869B59C8}"/>
              </a:ext>
            </a:extLst>
          </p:cNvPr>
          <p:cNvSpPr txBox="1"/>
          <p:nvPr/>
        </p:nvSpPr>
        <p:spPr>
          <a:xfrm>
            <a:off x="390617" y="840120"/>
            <a:ext cx="7947839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FF0000"/>
                </a:solidFill>
              </a:rPr>
              <a:t>Função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Composto resinoso para cura química do concreto, formando uma película contínua sobre a superfície que reduz a evaporação prematura da água de hidratação, garantindo uma cura mais eficiente e controlada. Essa ação resulta em concretos mais resistentes, com menor incidência de fissuras por retração plástica.</a:t>
            </a:r>
          </a:p>
          <a:p>
            <a:pPr algn="ctr"/>
            <a:r>
              <a:rPr lang="pt-BR" sz="2400" b="1" dirty="0">
                <a:solidFill>
                  <a:srgbClr val="FF0000"/>
                </a:solidFill>
              </a:rPr>
              <a:t>Aplicação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Pisos industriais, pavimentos de grande extensão e lajes expostas.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Elementos estruturais sujeitos à rápida perda de umidade.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Concretos sujeitos a elevadas temperaturas e ventos que aceleram a evaporação.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Alternativa eficiente a métodos tradicionais de cura úmida.</a:t>
            </a:r>
          </a:p>
          <a:p>
            <a:pPr algn="ctr"/>
            <a:r>
              <a:rPr lang="pt-BR" sz="2400" b="1" dirty="0">
                <a:solidFill>
                  <a:srgbClr val="FF0000"/>
                </a:solidFill>
              </a:rPr>
              <a:t>Benefícios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Redução significativa da perda de água durante a cura.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Minimiza a formação de fissuras por retração plástica.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Aumento da resistência mecânica e durabilidade do concreto.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Aplicação rápida e eficiente, reduzindo custos e tempo de obra.</a:t>
            </a:r>
          </a:p>
        </p:txBody>
      </p:sp>
      <p:pic>
        <p:nvPicPr>
          <p:cNvPr id="2" name="Imagem 1" descr="Desenho com traços pretos em fundo branco e letras pretas&#10;&#10;Descrição gerada automaticamente">
            <a:extLst>
              <a:ext uri="{FF2B5EF4-FFF2-40B4-BE49-F238E27FC236}">
                <a16:creationId xmlns:a16="http://schemas.microsoft.com/office/drawing/2014/main" id="{B141EF18-2C71-15C4-F3D5-AF1B85BF93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4490" y="34575"/>
            <a:ext cx="3271831" cy="63125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CB4C013-D939-EB8D-35C9-1AE496C4F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7450" y="0"/>
            <a:ext cx="2114550" cy="35510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9763565-DB7F-1103-617C-00AF940DD7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8450" y="6642106"/>
            <a:ext cx="1733550" cy="148499"/>
          </a:xfrm>
          <a:prstGeom prst="rect">
            <a:avLst/>
          </a:prstGeom>
        </p:spPr>
      </p:pic>
      <p:pic>
        <p:nvPicPr>
          <p:cNvPr id="7" name="Picture 2" descr="cura4max">
            <a:extLst>
              <a:ext uri="{FF2B5EF4-FFF2-40B4-BE49-F238E27FC236}">
                <a16:creationId xmlns:a16="http://schemas.microsoft.com/office/drawing/2014/main" id="{1196F120-0169-1812-12F5-77416944C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3489" y="792434"/>
            <a:ext cx="5143500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68133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Desenho com traços pretos em fundo branco&#10;&#10;Descrição gerada automaticamente">
            <a:extLst>
              <a:ext uri="{FF2B5EF4-FFF2-40B4-BE49-F238E27FC236}">
                <a16:creationId xmlns:a16="http://schemas.microsoft.com/office/drawing/2014/main" id="{F7357641-1F97-6929-1DE6-588A4FE8BF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969" y="0"/>
            <a:ext cx="3311531" cy="694664"/>
          </a:xfrm>
          <a:prstGeom prst="rect">
            <a:avLst/>
          </a:prstGeom>
        </p:spPr>
      </p:pic>
      <p:pic>
        <p:nvPicPr>
          <p:cNvPr id="3" name="Picture 2" descr="fort4max">
            <a:extLst>
              <a:ext uri="{FF2B5EF4-FFF2-40B4-BE49-F238E27FC236}">
                <a16:creationId xmlns:a16="http://schemas.microsoft.com/office/drawing/2014/main" id="{BC7458FE-F718-7E79-9BE1-76377D2A7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5936" y="460159"/>
            <a:ext cx="5143500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E47E197-F0FA-73BF-2AD3-32A2B574C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7450" y="0"/>
            <a:ext cx="2114550" cy="25661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17A2A5C-9D3A-D94F-04A6-1060A9187B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8450" y="6642107"/>
            <a:ext cx="1733550" cy="107312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8D0B4B85-4273-92E5-1428-0BCEDA8FA43E}"/>
              </a:ext>
            </a:extLst>
          </p:cNvPr>
          <p:cNvSpPr txBox="1"/>
          <p:nvPr/>
        </p:nvSpPr>
        <p:spPr>
          <a:xfrm>
            <a:off x="337351" y="1426099"/>
            <a:ext cx="7554898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solidFill>
                  <a:srgbClr val="CC0000"/>
                </a:solidFill>
              </a:rPr>
              <a:t>FORT4MAX – Endurecedor de Superfície</a:t>
            </a:r>
          </a:p>
          <a:p>
            <a:endParaRPr lang="pt-BR" sz="3200" b="1" dirty="0">
              <a:solidFill>
                <a:srgbClr val="CC0000"/>
              </a:solidFill>
            </a:endParaRPr>
          </a:p>
          <a:p>
            <a:pPr algn="ctr"/>
            <a:r>
              <a:rPr lang="pt-BR" sz="2400" b="1" dirty="0">
                <a:solidFill>
                  <a:srgbClr val="FF0000"/>
                </a:solidFill>
              </a:rPr>
              <a:t>Atuação</a:t>
            </a:r>
            <a:br>
              <a:rPr lang="pt-BR" sz="2800" dirty="0"/>
            </a:br>
            <a:r>
              <a:rPr lang="pt-BR" sz="2400" dirty="0"/>
              <a:t>O </a:t>
            </a:r>
            <a:r>
              <a:rPr lang="pt-BR" sz="2400" b="1" dirty="0"/>
              <a:t>Fort4max</a:t>
            </a:r>
            <a:r>
              <a:rPr lang="pt-BR" sz="2400" dirty="0"/>
              <a:t> reage com os compostos livres do cimento, especialmente </a:t>
            </a:r>
            <a:r>
              <a:rPr lang="pt-BR" sz="2400" b="1" dirty="0"/>
              <a:t>Ca(OH)₂</a:t>
            </a:r>
            <a:r>
              <a:rPr lang="pt-BR" sz="2400" dirty="0"/>
              <a:t>, formando </a:t>
            </a:r>
            <a:r>
              <a:rPr lang="pt-BR" sz="2400" b="1" dirty="0"/>
              <a:t>silicatos de cálcio hidratados (C-S-H)</a:t>
            </a:r>
            <a:r>
              <a:rPr lang="pt-BR" sz="2400" dirty="0"/>
              <a:t>, que aumentam a densidade superficial e resistência ao desgaste.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76615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Desenho com traços pretos em fundo branco&#10;&#10;Descrição gerada automaticamente">
            <a:extLst>
              <a:ext uri="{FF2B5EF4-FFF2-40B4-BE49-F238E27FC236}">
                <a16:creationId xmlns:a16="http://schemas.microsoft.com/office/drawing/2014/main" id="{627CF087-4AD9-5761-7724-3DB71E9E64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8570" y="-128819"/>
            <a:ext cx="3061702" cy="642257"/>
          </a:xfrm>
          <a:prstGeom prst="rect">
            <a:avLst/>
          </a:prstGeom>
        </p:spPr>
      </p:pic>
      <p:pic>
        <p:nvPicPr>
          <p:cNvPr id="5122" name="Picture 2" descr="fort4max">
            <a:extLst>
              <a:ext uri="{FF2B5EF4-FFF2-40B4-BE49-F238E27FC236}">
                <a16:creationId xmlns:a16="http://schemas.microsoft.com/office/drawing/2014/main" id="{3F66673A-7142-9760-703D-8323C3A2F7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5700" y="436268"/>
            <a:ext cx="5143500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F6B7EE0-8222-B183-E8CF-A8F85839E17D}"/>
              </a:ext>
            </a:extLst>
          </p:cNvPr>
          <p:cNvSpPr txBox="1"/>
          <p:nvPr/>
        </p:nvSpPr>
        <p:spPr>
          <a:xfrm>
            <a:off x="175756" y="487025"/>
            <a:ext cx="8086501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FF0000"/>
                </a:solidFill>
              </a:rPr>
              <a:t>Função</a:t>
            </a:r>
          </a:p>
          <a:p>
            <a:r>
              <a:rPr lang="pt-BR" sz="2000" dirty="0"/>
              <a:t>Composto químico à base de silicatos reativos que penetram na matriz cimentícia, reagindo com os compostos livres de hidratação do cimento para formar uma estrutura cristalina densa e resistente à abrasão. Atua no aumento da dureza superficial, reduzindo o desgaste prematuro e melhorando a resistência mecânica do concreto.</a:t>
            </a:r>
          </a:p>
          <a:p>
            <a:endParaRPr lang="pt-BR" b="1" dirty="0"/>
          </a:p>
          <a:p>
            <a:pPr algn="ctr"/>
            <a:r>
              <a:rPr lang="pt-BR" sz="2400" b="1" dirty="0">
                <a:solidFill>
                  <a:srgbClr val="FF0000"/>
                </a:solidFill>
              </a:rPr>
              <a:t>Aplicação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2000" dirty="0"/>
              <a:t>Pisos industriais sujeitos a tráfego intenso e abrasão mecânica.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2000" dirty="0"/>
              <a:t>Áreas de logística e galpões de armazenamento.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2000" dirty="0"/>
              <a:t>Superfícies de concreto expostas a agentes agressivos, como álcalis e óleos.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2000" dirty="0"/>
              <a:t>Estruturas onde se busca maior durabilidade e resistência química.</a:t>
            </a:r>
          </a:p>
          <a:p>
            <a:endParaRPr lang="pt-BR" b="1" dirty="0"/>
          </a:p>
          <a:p>
            <a:pPr algn="ctr"/>
            <a:r>
              <a:rPr lang="pt-BR" sz="2400" b="1" dirty="0">
                <a:solidFill>
                  <a:srgbClr val="FF0000"/>
                </a:solidFill>
              </a:rPr>
              <a:t>Benefícios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Aumento significativo da resistência à abrasão e impacto.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Melhoria da impermeabilidade ao reduzir a porosidade superficial.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Facilidade de aplicação e rápida liberação para uso.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Compatível com tratamentos superficiais posteriores, como seladores e pinturas.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4DDA238-43D4-B674-68A6-B3B38A655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7450" y="0"/>
            <a:ext cx="2114550" cy="25661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84C820F-5374-D167-8CC7-40421F393E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2220" y="6553200"/>
            <a:ext cx="3169780" cy="19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249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B8AAD-2854-5C9F-ECAF-BDF1D2FE9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0C44586-BA71-70F2-C1C9-EE13A0AE5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7450" y="0"/>
            <a:ext cx="2114550" cy="25661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7C1FAC2-64B2-7F22-C56E-927593EF3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086" y="6518959"/>
            <a:ext cx="3722914" cy="230460"/>
          </a:xfrm>
          <a:prstGeom prst="rect">
            <a:avLst/>
          </a:prstGeom>
        </p:spPr>
      </p:pic>
      <p:pic>
        <p:nvPicPr>
          <p:cNvPr id="1026" name="Picture 2" descr="IMPER4MAX_10Kg">
            <a:extLst>
              <a:ext uri="{FF2B5EF4-FFF2-40B4-BE49-F238E27FC236}">
                <a16:creationId xmlns:a16="http://schemas.microsoft.com/office/drawing/2014/main" id="{1E729919-5786-2A50-D199-FB423F7E5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78016">
            <a:off x="7225393" y="598713"/>
            <a:ext cx="5143500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A84AEE81-2661-165B-9DD5-35467C927255}"/>
              </a:ext>
            </a:extLst>
          </p:cNvPr>
          <p:cNvSpPr txBox="1"/>
          <p:nvPr/>
        </p:nvSpPr>
        <p:spPr>
          <a:xfrm>
            <a:off x="-185056" y="1671758"/>
            <a:ext cx="8654142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5400" b="1" dirty="0">
              <a:solidFill>
                <a:srgbClr val="FF0000"/>
              </a:solidFill>
            </a:endParaRPr>
          </a:p>
          <a:p>
            <a:pPr algn="ctr"/>
            <a:r>
              <a:rPr lang="pt-BR" sz="2400" b="1" dirty="0">
                <a:solidFill>
                  <a:srgbClr val="FF0000"/>
                </a:solidFill>
              </a:rPr>
              <a:t>ATUAÇÃO</a:t>
            </a:r>
          </a:p>
          <a:p>
            <a:pPr algn="ctr"/>
            <a:r>
              <a:rPr lang="pt-BR" sz="2000" dirty="0"/>
              <a:t>Aditivo impermeabilizante em pó para concreto e argamassas, proporcionando resistência à umidade e aumento da durabilidade.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8560407-1D1B-66E0-8CBD-D8BD7D3491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0887" y="128307"/>
            <a:ext cx="3390750" cy="67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177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954C3-7BCA-58F4-0FF0-CDFB544AC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130F944-8C4E-21FC-40D2-21B582C26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7450" y="0"/>
            <a:ext cx="2114550" cy="25661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1DDF996-9BDE-16CA-D5D5-EF5714B43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9597" y="6458326"/>
            <a:ext cx="4702403" cy="291093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BE84AE2A-E4B3-5F0F-E56A-BA365BFE20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0887" y="-38287"/>
            <a:ext cx="3390750" cy="67002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A2A65DF-D4BF-C7BC-813F-60306B01B521}"/>
              </a:ext>
            </a:extLst>
          </p:cNvPr>
          <p:cNvSpPr txBox="1"/>
          <p:nvPr/>
        </p:nvSpPr>
        <p:spPr>
          <a:xfrm>
            <a:off x="146958" y="675278"/>
            <a:ext cx="9552214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pt-BR" sz="2400" b="1" dirty="0">
              <a:solidFill>
                <a:srgbClr val="FF0000"/>
              </a:solidFill>
            </a:endParaRPr>
          </a:p>
          <a:p>
            <a:pPr algn="ctr"/>
            <a:r>
              <a:rPr lang="pt-BR" sz="2400" b="1" dirty="0">
                <a:solidFill>
                  <a:srgbClr val="FF0000"/>
                </a:solidFill>
              </a:rPr>
              <a:t>Função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000" dirty="0"/>
              <a:t>Barreira eficaz contra a penetração de água e pressão hidrostática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000" dirty="0"/>
              <a:t>Selagem de microfissuras e fissuras existentes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000" dirty="0"/>
              <a:t>Aumenta a vida útil das estruturas de concreto e argamassa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000" dirty="0"/>
              <a:t>Aplicação simplificada, sem necessidade de equipamentos especiais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000" dirty="0"/>
              <a:t>Produto sustentável e de longo prazo</a:t>
            </a:r>
          </a:p>
          <a:p>
            <a:pPr algn="ctr"/>
            <a:r>
              <a:rPr lang="pt-BR" sz="2400" b="1" dirty="0">
                <a:solidFill>
                  <a:srgbClr val="FF0000"/>
                </a:solidFill>
              </a:rPr>
              <a:t>Aplicações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pt-BR" sz="2000" dirty="0"/>
              <a:t>Concreto e argamassas expostos à umidade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pt-BR" sz="2000" dirty="0"/>
              <a:t>Lajes, contrapiso, revestimentos internos e externos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pt-BR" sz="2000" dirty="0"/>
              <a:t>Concreto usinado, pré-moldados e rejuntes</a:t>
            </a:r>
          </a:p>
          <a:p>
            <a:pPr algn="ctr"/>
            <a:r>
              <a:rPr lang="pt-BR" sz="2400" b="1" dirty="0">
                <a:solidFill>
                  <a:srgbClr val="FF0000"/>
                </a:solidFill>
              </a:rPr>
              <a:t>Beneficio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Resistência duradoura sem necessidade de reaplicação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Fácil mistura e compatibilidade com materiais cimentícios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Redução de custos com manutenção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Evita infiltrações e aumenta a durabilidade das estruturas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Reduz manutenções e custos com reparos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Solução econômica e sustentável</a:t>
            </a:r>
          </a:p>
        </p:txBody>
      </p:sp>
      <p:pic>
        <p:nvPicPr>
          <p:cNvPr id="10" name="Picture 2" descr="IMPER4MAX_10Kg">
            <a:extLst>
              <a:ext uri="{FF2B5EF4-FFF2-40B4-BE49-F238E27FC236}">
                <a16:creationId xmlns:a16="http://schemas.microsoft.com/office/drawing/2014/main" id="{7F1E9240-C267-68F9-5A58-17562F2C0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78016">
            <a:off x="7225393" y="598713"/>
            <a:ext cx="5143500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7281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231D3-A66E-DE81-5BC5-D01D76C81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8399803-3A7C-B71C-5A72-9258C2A0F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7450" y="0"/>
            <a:ext cx="2114550" cy="25661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2E24FAF-2166-D87D-17E9-39E395379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1262" y="6477000"/>
            <a:ext cx="4400738" cy="27241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89E63C0-057A-A583-7FDE-6CE24526E5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075" y="45159"/>
            <a:ext cx="2114550" cy="422911"/>
          </a:xfrm>
          <a:prstGeom prst="rect">
            <a:avLst/>
          </a:prstGeom>
        </p:spPr>
      </p:pic>
      <p:pic>
        <p:nvPicPr>
          <p:cNvPr id="2050" name="Picture 2" descr="HIPERFORMAX_galao_5L">
            <a:extLst>
              <a:ext uri="{FF2B5EF4-FFF2-40B4-BE49-F238E27FC236}">
                <a16:creationId xmlns:a16="http://schemas.microsoft.com/office/drawing/2014/main" id="{6E1BE59C-9B9D-1C18-36CD-4DE4BAD64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3899" y="762000"/>
            <a:ext cx="5143500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BB0DE64-3BD8-B19E-EA2D-8E424A95E985}"/>
              </a:ext>
            </a:extLst>
          </p:cNvPr>
          <p:cNvSpPr txBox="1"/>
          <p:nvPr/>
        </p:nvSpPr>
        <p:spPr>
          <a:xfrm>
            <a:off x="108857" y="533875"/>
            <a:ext cx="10217646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endParaRPr lang="pt-BR" sz="2400" b="1" dirty="0">
              <a:solidFill>
                <a:srgbClr val="FF0000"/>
              </a:solidFill>
            </a:endParaRPr>
          </a:p>
          <a:p>
            <a:pPr algn="ctr">
              <a:buNone/>
            </a:pPr>
            <a:r>
              <a:rPr lang="pt-BR" sz="2400" b="1" dirty="0">
                <a:solidFill>
                  <a:srgbClr val="FF0000"/>
                </a:solidFill>
              </a:rPr>
              <a:t>Atuação</a:t>
            </a:r>
          </a:p>
          <a:p>
            <a:r>
              <a:rPr lang="pt-BR" sz="2000" dirty="0"/>
              <a:t>Trata-se de um </a:t>
            </a:r>
            <a:r>
              <a:rPr lang="pt-BR" sz="2000" b="1" dirty="0"/>
              <a:t>promotor de aderência, resistência e plasticidade</a:t>
            </a:r>
            <a:r>
              <a:rPr lang="pt-BR" sz="2000" dirty="0"/>
              <a:t> para argamassas e chapiscos, bem como impermeabilizante no concreto utilizado em diversos substratos na construção civil. </a:t>
            </a:r>
          </a:p>
          <a:p>
            <a:r>
              <a:rPr lang="pt-BR" sz="2000" dirty="0"/>
              <a:t>É uma resina sintética de alta performance, desenvolvida para garantir uma aderência superior das argamassas a diferentes tipos de substratos.</a:t>
            </a:r>
          </a:p>
          <a:p>
            <a:endParaRPr lang="pt-BR" dirty="0"/>
          </a:p>
          <a:p>
            <a:pPr algn="ctr">
              <a:buNone/>
            </a:pPr>
            <a:r>
              <a:rPr lang="pt-BR" sz="2400" b="1" dirty="0">
                <a:solidFill>
                  <a:srgbClr val="FF0000"/>
                </a:solidFill>
              </a:rPr>
              <a:t>Função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Aumentar a aderência, impermeabilidade e durabilidade</a:t>
            </a:r>
          </a:p>
          <a:p>
            <a:pPr algn="ctr"/>
            <a:endParaRPr lang="pt-BR" sz="2400" b="1" dirty="0">
              <a:solidFill>
                <a:srgbClr val="FF0000"/>
              </a:solidFill>
            </a:endParaRPr>
          </a:p>
          <a:p>
            <a:pPr algn="ctr"/>
            <a:r>
              <a:rPr lang="pt-BR" sz="2400" b="1" dirty="0">
                <a:solidFill>
                  <a:srgbClr val="FF0000"/>
                </a:solidFill>
              </a:rPr>
              <a:t>Beneficio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Plasticidade que facilita o manuseio e proporciona acabamentos de qualidade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1 parte de Hiper4max para 2 partes de água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8823207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9D329-9CE3-C76B-8855-CB18D0D6F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C8FAEEF-E80A-2BF2-7960-F14E787DE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7450" y="0"/>
            <a:ext cx="2114550" cy="25661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FED3490-A022-DA1D-AC2E-3A4235138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6365" y="6518791"/>
            <a:ext cx="3725635" cy="230628"/>
          </a:xfrm>
          <a:prstGeom prst="rect">
            <a:avLst/>
          </a:prstGeom>
        </p:spPr>
      </p:pic>
      <p:pic>
        <p:nvPicPr>
          <p:cNvPr id="4098" name="Picture 2" descr="HIDRO4MAX_balde_18L">
            <a:extLst>
              <a:ext uri="{FF2B5EF4-FFF2-40B4-BE49-F238E27FC236}">
                <a16:creationId xmlns:a16="http://schemas.microsoft.com/office/drawing/2014/main" id="{92C6DB57-52B8-B322-3C32-14B588EBA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2479" y="108581"/>
            <a:ext cx="5143500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F0C9D8E-3621-8411-478A-187294E014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4089" y="0"/>
            <a:ext cx="2790866" cy="601952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40215277-7FD1-5587-D70A-5CB67596ED73}"/>
              </a:ext>
            </a:extLst>
          </p:cNvPr>
          <p:cNvSpPr txBox="1"/>
          <p:nvPr/>
        </p:nvSpPr>
        <p:spPr>
          <a:xfrm>
            <a:off x="0" y="1027837"/>
            <a:ext cx="846636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sz="2400" b="1" dirty="0">
                <a:solidFill>
                  <a:srgbClr val="FF0000"/>
                </a:solidFill>
              </a:rPr>
              <a:t>Atuação</a:t>
            </a:r>
          </a:p>
          <a:p>
            <a:pPr algn="ctr">
              <a:buNone/>
            </a:pPr>
            <a:endParaRPr lang="pt-BR" sz="4000" b="1" dirty="0">
              <a:solidFill>
                <a:srgbClr val="FF0000"/>
              </a:solidFill>
            </a:endParaRPr>
          </a:p>
          <a:p>
            <a:r>
              <a:rPr lang="pt-BR" sz="2000" dirty="0"/>
              <a:t>O </a:t>
            </a:r>
            <a:r>
              <a:rPr lang="pt-BR" sz="2000" b="1" dirty="0"/>
              <a:t>Hidro4Max</a:t>
            </a:r>
            <a:r>
              <a:rPr lang="pt-BR" sz="2000" dirty="0"/>
              <a:t> é um </a:t>
            </a:r>
            <a:r>
              <a:rPr lang="pt-BR" sz="2000" b="1" dirty="0"/>
              <a:t>repelente de água inovador</a:t>
            </a:r>
            <a:r>
              <a:rPr lang="pt-BR" sz="2000" dirty="0"/>
              <a:t>, formulado à base de </a:t>
            </a:r>
            <a:r>
              <a:rPr lang="pt-BR" sz="2000" b="1" dirty="0"/>
              <a:t>Silano/</a:t>
            </a:r>
            <a:r>
              <a:rPr lang="pt-BR" sz="2000" b="1" dirty="0" err="1"/>
              <a:t>Siloxano</a:t>
            </a:r>
            <a:r>
              <a:rPr lang="pt-BR" sz="2000" dirty="0"/>
              <a:t>, que protege superfícies de concreto e cerâmica contra a penetração de umidade, prevenindo problemas como </a:t>
            </a:r>
            <a:r>
              <a:rPr lang="pt-BR" sz="2000" b="1" dirty="0"/>
              <a:t>fungos, musgos e degradação estrutural</a:t>
            </a:r>
            <a:r>
              <a:rPr lang="pt-B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42115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E574D-7B7B-D65A-9FA3-3C7CAB31B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F726EF2-D534-1C34-3568-39DD80743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7450" y="0"/>
            <a:ext cx="2114550" cy="25661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3C2DF0C-DF4E-B6FD-AF1C-B9AFC8D40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257" y="6506156"/>
            <a:ext cx="3929743" cy="243263"/>
          </a:xfrm>
          <a:prstGeom prst="rect">
            <a:avLst/>
          </a:prstGeom>
        </p:spPr>
      </p:pic>
      <p:pic>
        <p:nvPicPr>
          <p:cNvPr id="2" name="Picture 2" descr="HIDRO4MAX_balde_18L">
            <a:extLst>
              <a:ext uri="{FF2B5EF4-FFF2-40B4-BE49-F238E27FC236}">
                <a16:creationId xmlns:a16="http://schemas.microsoft.com/office/drawing/2014/main" id="{3A1408E3-F62D-9A10-C61F-BD8EE013A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2479" y="108581"/>
            <a:ext cx="5143500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BEFA466-F534-F473-73D7-BE9E767C6F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4089" y="0"/>
            <a:ext cx="2790866" cy="601952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EB588AB1-54E1-9DEB-E9A0-57F4A035F335}"/>
              </a:ext>
            </a:extLst>
          </p:cNvPr>
          <p:cNvSpPr txBox="1"/>
          <p:nvPr/>
        </p:nvSpPr>
        <p:spPr>
          <a:xfrm>
            <a:off x="0" y="906253"/>
            <a:ext cx="8784771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sz="2400" b="1" dirty="0">
                <a:solidFill>
                  <a:srgbClr val="FF0000"/>
                </a:solidFill>
              </a:rPr>
              <a:t>Principais Aplicações:</a:t>
            </a:r>
          </a:p>
          <a:p>
            <a:pPr algn="ctr">
              <a:buNone/>
            </a:pPr>
            <a:endParaRPr lang="pt-BR" sz="3600" b="1" dirty="0">
              <a:solidFill>
                <a:srgbClr val="FF0000"/>
              </a:solidFill>
            </a:endParaRPr>
          </a:p>
          <a:p>
            <a:r>
              <a:rPr lang="pt-BR" sz="2400" dirty="0"/>
              <a:t>✔ </a:t>
            </a:r>
            <a:r>
              <a:rPr lang="pt-BR" sz="2000" b="1" dirty="0"/>
              <a:t>Proteção de concreto e cerâmica</a:t>
            </a:r>
            <a:r>
              <a:rPr lang="pt-BR" sz="2000" dirty="0"/>
              <a:t> – Cria uma barreira impermeável contra umidade.</a:t>
            </a:r>
            <a:br>
              <a:rPr lang="pt-BR" sz="2000" dirty="0"/>
            </a:br>
            <a:r>
              <a:rPr lang="pt-BR" sz="2000" dirty="0"/>
              <a:t>✔ </a:t>
            </a:r>
            <a:r>
              <a:rPr lang="pt-BR" sz="2000" b="1" dirty="0"/>
              <a:t>Aumento da durabilidade</a:t>
            </a:r>
            <a:r>
              <a:rPr lang="pt-BR" sz="2000" dirty="0"/>
              <a:t> – Reduz a deterioração causada por infiltração de água.</a:t>
            </a:r>
            <a:br>
              <a:rPr lang="pt-BR" sz="2000" dirty="0"/>
            </a:br>
            <a:r>
              <a:rPr lang="pt-BR" sz="2000" dirty="0"/>
              <a:t>✔ </a:t>
            </a:r>
            <a:r>
              <a:rPr lang="pt-BR" sz="2000" b="1" dirty="0"/>
              <a:t>Melhoria da eficiência energética</a:t>
            </a:r>
            <a:r>
              <a:rPr lang="pt-BR" sz="2000" dirty="0"/>
              <a:t> – Diminui a absorção de umidade, reduzindo a necessidade de climatização.</a:t>
            </a:r>
            <a:br>
              <a:rPr lang="pt-BR" sz="2000" dirty="0"/>
            </a:br>
            <a:r>
              <a:rPr lang="pt-BR" sz="2000" dirty="0"/>
              <a:t>✔ </a:t>
            </a:r>
            <a:r>
              <a:rPr lang="pt-BR" sz="2000" b="1" dirty="0"/>
              <a:t>Preservação estética</a:t>
            </a:r>
            <a:r>
              <a:rPr lang="pt-BR" sz="2000" dirty="0"/>
              <a:t> – Evita manchas e crescimento de fungos/musgos.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2753023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72EAA-34D6-E4C3-5481-9FE9E7D4F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A10F754-B118-C081-F2AA-6189C06B4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7450" y="0"/>
            <a:ext cx="2114550" cy="25661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FD2D2FB-6B80-90B2-8BD0-6478C76F5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305" y="6400800"/>
            <a:ext cx="5631695" cy="348619"/>
          </a:xfrm>
          <a:prstGeom prst="rect">
            <a:avLst/>
          </a:prstGeom>
        </p:spPr>
      </p:pic>
      <p:pic>
        <p:nvPicPr>
          <p:cNvPr id="7170" name="Picture 2" descr="ANTIDUST_Bombona_50L">
            <a:extLst>
              <a:ext uri="{FF2B5EF4-FFF2-40B4-BE49-F238E27FC236}">
                <a16:creationId xmlns:a16="http://schemas.microsoft.com/office/drawing/2014/main" id="{426C8618-5BB4-6CE4-680E-C750920B4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0" y="762000"/>
            <a:ext cx="5143500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CAA47C4-6060-4DB4-E2B8-838F9E3097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0384" y="-93320"/>
            <a:ext cx="3085136" cy="69986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6E95181D-9828-F716-4A98-F6BC8332E50A}"/>
              </a:ext>
            </a:extLst>
          </p:cNvPr>
          <p:cNvSpPr txBox="1"/>
          <p:nvPr/>
        </p:nvSpPr>
        <p:spPr>
          <a:xfrm>
            <a:off x="1" y="911349"/>
            <a:ext cx="869768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sz="2400" b="1" dirty="0">
                <a:solidFill>
                  <a:srgbClr val="FF0000"/>
                </a:solidFill>
              </a:rPr>
              <a:t>Atuação</a:t>
            </a:r>
            <a:endParaRPr lang="pt-BR" sz="4000" b="1" dirty="0">
              <a:solidFill>
                <a:srgbClr val="FF0000"/>
              </a:solidFill>
            </a:endParaRPr>
          </a:p>
          <a:p>
            <a:r>
              <a:rPr lang="pt-BR" sz="2000" dirty="0"/>
              <a:t>O </a:t>
            </a:r>
            <a:r>
              <a:rPr lang="pt-BR" sz="2000" b="1" dirty="0" err="1"/>
              <a:t>AntiDust</a:t>
            </a:r>
            <a:r>
              <a:rPr lang="pt-BR" sz="2000" dirty="0"/>
              <a:t> é um </a:t>
            </a:r>
            <a:r>
              <a:rPr lang="pt-BR" sz="2000" b="1" dirty="0"/>
              <a:t>polímero </a:t>
            </a:r>
            <a:r>
              <a:rPr lang="pt-BR" sz="2000" b="1" dirty="0" err="1"/>
              <a:t>nanotecnológico</a:t>
            </a:r>
            <a:r>
              <a:rPr lang="pt-BR" sz="2000" b="1" dirty="0"/>
              <a:t> avançado</a:t>
            </a:r>
            <a:r>
              <a:rPr lang="pt-BR" sz="2000" dirty="0"/>
              <a:t>, desenvolvido para atuar como um </a:t>
            </a:r>
            <a:r>
              <a:rPr lang="pt-BR" sz="2000" b="1" dirty="0"/>
              <a:t>agente </a:t>
            </a:r>
            <a:r>
              <a:rPr lang="pt-BR" sz="2000" b="1" dirty="0" err="1"/>
              <a:t>anti-poeira</a:t>
            </a:r>
            <a:r>
              <a:rPr lang="pt-BR" sz="2000" b="1" dirty="0"/>
              <a:t> de alta performance</a:t>
            </a:r>
            <a:r>
              <a:rPr lang="pt-BR" sz="2000" dirty="0"/>
              <a:t>, reduzindo significativamente a dispersão de partículas no ar. Além disso, possui </a:t>
            </a:r>
            <a:r>
              <a:rPr lang="pt-BR" sz="2000" b="1" dirty="0"/>
              <a:t>ação plastificante</a:t>
            </a:r>
            <a:r>
              <a:rPr lang="pt-BR" sz="2000" dirty="0"/>
              <a:t>, promovendo a compactação e estabilização do solo.</a:t>
            </a:r>
          </a:p>
          <a:p>
            <a:pPr algn="ctr"/>
            <a:r>
              <a:rPr lang="pt-BR" sz="2400" b="1" dirty="0">
                <a:solidFill>
                  <a:srgbClr val="FF0000"/>
                </a:solidFill>
              </a:rPr>
              <a:t>Aplicações</a:t>
            </a:r>
            <a:endParaRPr lang="pt-BR" sz="4000" b="1" dirty="0">
              <a:solidFill>
                <a:srgbClr val="FF0000"/>
              </a:solidFill>
            </a:endParaRPr>
          </a:p>
          <a:p>
            <a:r>
              <a:rPr lang="pt-BR" sz="2000" dirty="0"/>
              <a:t>✔ Canteiros de obras – Controla a poeira gerada pelo tráfego de máquinas e movimentação de materiais.</a:t>
            </a:r>
          </a:p>
          <a:p>
            <a:r>
              <a:rPr lang="pt-BR" sz="2000" dirty="0"/>
              <a:t>✔ Estradas não pavimentadas – Reduz a suspensão de poeira, melhorando a visibilidade e a segurança.</a:t>
            </a:r>
          </a:p>
          <a:p>
            <a:r>
              <a:rPr lang="pt-BR" sz="2000" dirty="0"/>
              <a:t>✔ Áreas industriais – Minimiza o impacto ambiental e melhora a qualidade do ar.</a:t>
            </a:r>
          </a:p>
          <a:p>
            <a:r>
              <a:rPr lang="pt-BR" sz="2000" dirty="0"/>
              <a:t>✔ Mineração e logística – Evita a dispersão de partículas em operações de transporte e extração.</a:t>
            </a: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748700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40ACF-12C3-86B6-5E64-6CFD120DD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8FBE23E-51F2-2BCB-380F-0206C3CA9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7450" y="0"/>
            <a:ext cx="2114550" cy="25661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F4CC930-E131-4131-2914-2149DB3E7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652" y="6302829"/>
            <a:ext cx="7214348" cy="446590"/>
          </a:xfrm>
          <a:prstGeom prst="rect">
            <a:avLst/>
          </a:prstGeom>
        </p:spPr>
      </p:pic>
      <p:pic>
        <p:nvPicPr>
          <p:cNvPr id="4" name="Picture 2" descr="ANTIDUST_Bombona_50L">
            <a:extLst>
              <a:ext uri="{FF2B5EF4-FFF2-40B4-BE49-F238E27FC236}">
                <a16:creationId xmlns:a16="http://schemas.microsoft.com/office/drawing/2014/main" id="{98DB44FA-57FF-4DC4-1765-F788D26EC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0" y="775294"/>
            <a:ext cx="5143500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9EFA1E8-661C-6709-E08B-04FCD533C9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5084" y="-165158"/>
            <a:ext cx="3085136" cy="699869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3AB237C8-3256-4118-9E31-BDA470DE6B2F}"/>
              </a:ext>
            </a:extLst>
          </p:cNvPr>
          <p:cNvSpPr txBox="1"/>
          <p:nvPr/>
        </p:nvSpPr>
        <p:spPr>
          <a:xfrm>
            <a:off x="0" y="1503044"/>
            <a:ext cx="8425543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pt-BR" sz="2400" b="1" dirty="0">
              <a:solidFill>
                <a:srgbClr val="FF0000"/>
              </a:solidFill>
            </a:endParaRPr>
          </a:p>
          <a:p>
            <a:pPr algn="ctr"/>
            <a:r>
              <a:rPr lang="pt-BR" sz="2400" b="1" dirty="0">
                <a:solidFill>
                  <a:srgbClr val="FF0000"/>
                </a:solidFill>
              </a:rPr>
              <a:t>Benefícios</a:t>
            </a:r>
            <a:endParaRPr lang="pt-BR" sz="36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 </a:t>
            </a:r>
            <a:r>
              <a:rPr lang="pt-BR" sz="2000" dirty="0"/>
              <a:t>Redução eficaz da poeira – Cria uma barreira que impede a suspensão de partículas.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 Plastificação do solo – Melhora a coesão e reduz a necessidade de manutenção.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 Ambiente mais saudável – Contribui para a redução de doenças respiratórias.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 Fácil aplicação – Pode ser diluído e aplicado por pulverização.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 Alta durabilidade – Efeito prolongado mesmo sob condições adversas.</a:t>
            </a:r>
          </a:p>
        </p:txBody>
      </p:sp>
    </p:spTree>
    <p:extLst>
      <p:ext uri="{BB962C8B-B14F-4D97-AF65-F5344CB8AC3E}">
        <p14:creationId xmlns:p14="http://schemas.microsoft.com/office/powerpoint/2010/main" val="17556399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098AF5-A64D-4896-FEFA-233588FD1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49B366-2EEA-1835-098B-8A2481483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E1FA1EC-58A2-87E5-C6AC-274E28B17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0306"/>
            <a:ext cx="12192000" cy="6837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8813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13255</TotalTime>
  <Words>1843</Words>
  <Application>Microsoft Office PowerPoint</Application>
  <PresentationFormat>Widescreen</PresentationFormat>
  <Paragraphs>166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Eliseu Amaral</dc:creator>
  <cp:lastModifiedBy>Eliseu Amaral</cp:lastModifiedBy>
  <cp:revision>3</cp:revision>
  <dcterms:created xsi:type="dcterms:W3CDTF">2025-01-28T17:26:04Z</dcterms:created>
  <dcterms:modified xsi:type="dcterms:W3CDTF">2025-03-26T18:28:18Z</dcterms:modified>
</cp:coreProperties>
</file>